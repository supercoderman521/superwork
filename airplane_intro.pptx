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Microsoft YaHei"/>
              </a:defRPr>
            </a:pPr>
            <a:r>
              <a:t>飞 机 的 飞 行 原 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8ABBFF"/>
                </a:solidFill>
                <a:latin typeface="Microsoft YaHei"/>
              </a:defRPr>
            </a:pPr>
            <a:r>
              <a:t>从伯努利原理到现代航空 — 人类如何征服蓝天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286000"/>
            <a:ext cx="1828800" cy="3657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651760"/>
            <a:ext cx="2377440" cy="2560320"/>
          </a:xfrm>
          <a:prstGeom prst="roundRect">
            <a:avLst/>
          </a:prstGeom>
          <a:solidFill>
            <a:srgbClr val="1A2D49"/>
          </a:solidFill>
          <a:ln w="1270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880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升力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918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ABBFF"/>
                </a:solidFill>
                <a:latin typeface="Calibri"/>
              </a:defRPr>
            </a:pPr>
            <a:r>
              <a:t>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CCDDFF"/>
                </a:solidFill>
                <a:latin typeface="Microsoft YaHei"/>
              </a:defRPr>
            </a:pPr>
            <a:r>
              <a:t>机翼上下表面</a:t>
            </a:r>
            <a:br/>
            <a:r>
              <a:t>气流速度差产生</a:t>
            </a:r>
            <a:br/>
            <a:r>
              <a:t>压力差，托起飞机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2651760"/>
            <a:ext cx="2377440" cy="2560320"/>
          </a:xfrm>
          <a:prstGeom prst="roundRect">
            <a:avLst/>
          </a:prstGeom>
          <a:solidFill>
            <a:srgbClr val="1A2D49"/>
          </a:solidFill>
          <a:ln w="1270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880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推力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2918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ABBFF"/>
                </a:solidFill>
                <a:latin typeface="Calibri"/>
              </a:defRPr>
            </a:pPr>
            <a:r>
              <a:t>Thrust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703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CCDDFF"/>
                </a:solidFill>
                <a:latin typeface="Microsoft YaHei"/>
              </a:defRPr>
            </a:pPr>
            <a:r>
              <a:t>发动机（涡扇/</a:t>
            </a:r>
            <a:br/>
            <a:r>
              <a:t>涡喷）向后噴射</a:t>
            </a:r>
            <a:br/>
            <a:r>
              <a:t>气流产生反作用力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651760"/>
            <a:ext cx="2377440" cy="2560320"/>
          </a:xfrm>
          <a:prstGeom prst="roundRect">
            <a:avLst/>
          </a:prstGeom>
          <a:solidFill>
            <a:srgbClr val="1A2D49"/>
          </a:solidFill>
          <a:ln w="1270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80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阻力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2918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ABBFF"/>
                </a:solidFill>
                <a:latin typeface="Calibri"/>
              </a:defRPr>
            </a:pPr>
            <a:r>
              <a:t>Drag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703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CCDDFF"/>
                </a:solidFill>
                <a:latin typeface="Microsoft YaHei"/>
              </a:defRPr>
            </a:pPr>
            <a:r>
              <a:t>空气对飞机</a:t>
            </a:r>
            <a:br/>
            <a:r>
              <a:t>前行的阻碇，</a:t>
            </a:r>
            <a:br/>
            <a:r>
              <a:t>流线型设计减小阻力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2651760"/>
            <a:ext cx="2377440" cy="2560320"/>
          </a:xfrm>
          <a:prstGeom prst="roundRect">
            <a:avLst/>
          </a:prstGeom>
          <a:solidFill>
            <a:srgbClr val="1A2D49"/>
          </a:solidFill>
          <a:ln w="12700">
            <a:solidFill>
              <a:srgbClr val="2E4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8803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重力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3291839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8ABBFF"/>
                </a:solidFill>
                <a:latin typeface="Calibri"/>
              </a:defRPr>
            </a:pPr>
            <a:r>
              <a:t>Weight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370332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 sz="1400">
                <a:solidFill>
                  <a:srgbClr val="CCDDFF"/>
                </a:solidFill>
                <a:latin typeface="Microsoft YaHei"/>
              </a:defRPr>
            </a:pPr>
            <a:r>
              <a:t>飞机自重+</a:t>
            </a:r>
            <a:br/>
            <a:r>
              <a:t>载荷，由升力</a:t>
            </a:r>
            <a:br/>
            <a:r>
              <a:t>克服才能飞行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6688AA"/>
                </a:solidFill>
                <a:latin typeface="Microsoft YaHei"/>
              </a:defRPr>
            </a:pPr>
            <a:r>
              <a:t>1903 年莱特兄弟首次动力飞行  |  现代客机巡航速度 ~900 km/h  |  最高飞行高度 ~12,000 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